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66" r:id="rId3"/>
    <p:sldId id="257" r:id="rId4"/>
    <p:sldId id="258" r:id="rId5"/>
    <p:sldId id="259" r:id="rId6"/>
    <p:sldId id="260" r:id="rId7"/>
    <p:sldId id="268" r:id="rId8"/>
    <p:sldId id="269" r:id="rId9"/>
    <p:sldId id="261" r:id="rId10"/>
    <p:sldId id="262" r:id="rId11"/>
    <p:sldId id="263" r:id="rId12"/>
    <p:sldId id="26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10A0967-B0CA-4A74-BC35-CCA964D5C9AB}"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CCFFF0-0E3A-44E0-9A0B-F5D111E71EEF}" type="slidenum">
              <a:rPr lang="en-IN" smtClean="0"/>
              <a:t>‹#›</a:t>
            </a:fld>
            <a:endParaRPr lang="en-IN"/>
          </a:p>
        </p:txBody>
      </p:sp>
    </p:spTree>
    <p:extLst>
      <p:ext uri="{BB962C8B-B14F-4D97-AF65-F5344CB8AC3E}">
        <p14:creationId xmlns:p14="http://schemas.microsoft.com/office/powerpoint/2010/main" val="3689107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0A0967-B0CA-4A74-BC35-CCA964D5C9AB}"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CCFFF0-0E3A-44E0-9A0B-F5D111E71EEF}" type="slidenum">
              <a:rPr lang="en-IN" smtClean="0"/>
              <a:t>‹#›</a:t>
            </a:fld>
            <a:endParaRPr lang="en-IN"/>
          </a:p>
        </p:txBody>
      </p:sp>
    </p:spTree>
    <p:extLst>
      <p:ext uri="{BB962C8B-B14F-4D97-AF65-F5344CB8AC3E}">
        <p14:creationId xmlns:p14="http://schemas.microsoft.com/office/powerpoint/2010/main" val="4254432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0A0967-B0CA-4A74-BC35-CCA964D5C9AB}"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CCFFF0-0E3A-44E0-9A0B-F5D111E71EEF}" type="slidenum">
              <a:rPr lang="en-IN" smtClean="0"/>
              <a:t>‹#›</a:t>
            </a:fld>
            <a:endParaRPr lang="en-IN"/>
          </a:p>
        </p:txBody>
      </p:sp>
    </p:spTree>
    <p:extLst>
      <p:ext uri="{BB962C8B-B14F-4D97-AF65-F5344CB8AC3E}">
        <p14:creationId xmlns:p14="http://schemas.microsoft.com/office/powerpoint/2010/main" val="3512460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10A0967-B0CA-4A74-BC35-CCA964D5C9AB}"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CCFFF0-0E3A-44E0-9A0B-F5D111E71EEF}" type="slidenum">
              <a:rPr lang="en-IN" smtClean="0"/>
              <a:t>‹#›</a:t>
            </a:fld>
            <a:endParaRPr lang="en-IN"/>
          </a:p>
        </p:txBody>
      </p:sp>
    </p:spTree>
    <p:extLst>
      <p:ext uri="{BB962C8B-B14F-4D97-AF65-F5344CB8AC3E}">
        <p14:creationId xmlns:p14="http://schemas.microsoft.com/office/powerpoint/2010/main" val="2160568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0A0967-B0CA-4A74-BC35-CCA964D5C9AB}" type="datetimeFigureOut">
              <a:rPr lang="en-IN" smtClean="0"/>
              <a:t>21-09-2026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8CCFFF0-0E3A-44E0-9A0B-F5D111E71EEF}" type="slidenum">
              <a:rPr lang="en-IN" smtClean="0"/>
              <a:t>‹#›</a:t>
            </a:fld>
            <a:endParaRPr lang="en-IN"/>
          </a:p>
        </p:txBody>
      </p:sp>
    </p:spTree>
    <p:extLst>
      <p:ext uri="{BB962C8B-B14F-4D97-AF65-F5344CB8AC3E}">
        <p14:creationId xmlns:p14="http://schemas.microsoft.com/office/powerpoint/2010/main" val="962410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10A0967-B0CA-4A74-BC35-CCA964D5C9AB}" type="datetimeFigureOut">
              <a:rPr lang="en-IN" smtClean="0"/>
              <a:t>21-09-2026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8CCFFF0-0E3A-44E0-9A0B-F5D111E71EEF}" type="slidenum">
              <a:rPr lang="en-IN" smtClean="0"/>
              <a:t>‹#›</a:t>
            </a:fld>
            <a:endParaRPr lang="en-IN"/>
          </a:p>
        </p:txBody>
      </p:sp>
    </p:spTree>
    <p:extLst>
      <p:ext uri="{BB962C8B-B14F-4D97-AF65-F5344CB8AC3E}">
        <p14:creationId xmlns:p14="http://schemas.microsoft.com/office/powerpoint/2010/main" val="1909382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0A0967-B0CA-4A74-BC35-CCA964D5C9AB}" type="datetimeFigureOut">
              <a:rPr lang="en-IN" smtClean="0"/>
              <a:t>21-09-2026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8CCFFF0-0E3A-44E0-9A0B-F5D111E71EEF}" type="slidenum">
              <a:rPr lang="en-IN" smtClean="0"/>
              <a:t>‹#›</a:t>
            </a:fld>
            <a:endParaRPr lang="en-IN"/>
          </a:p>
        </p:txBody>
      </p:sp>
    </p:spTree>
    <p:extLst>
      <p:ext uri="{BB962C8B-B14F-4D97-AF65-F5344CB8AC3E}">
        <p14:creationId xmlns:p14="http://schemas.microsoft.com/office/powerpoint/2010/main" val="1932474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0A0967-B0CA-4A74-BC35-CCA964D5C9AB}"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CCFFF0-0E3A-44E0-9A0B-F5D111E71EEF}" type="slidenum">
              <a:rPr lang="en-IN" smtClean="0"/>
              <a:t>‹#›</a:t>
            </a:fld>
            <a:endParaRPr lang="en-IN"/>
          </a:p>
        </p:txBody>
      </p:sp>
    </p:spTree>
    <p:extLst>
      <p:ext uri="{BB962C8B-B14F-4D97-AF65-F5344CB8AC3E}">
        <p14:creationId xmlns:p14="http://schemas.microsoft.com/office/powerpoint/2010/main" val="1613840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0A0967-B0CA-4A74-BC35-CCA964D5C9AB}"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CCFFF0-0E3A-44E0-9A0B-F5D111E71EEF}" type="slidenum">
              <a:rPr lang="en-IN" smtClean="0"/>
              <a:t>‹#›</a:t>
            </a:fld>
            <a:endParaRPr lang="en-IN"/>
          </a:p>
        </p:txBody>
      </p:sp>
    </p:spTree>
    <p:extLst>
      <p:ext uri="{BB962C8B-B14F-4D97-AF65-F5344CB8AC3E}">
        <p14:creationId xmlns:p14="http://schemas.microsoft.com/office/powerpoint/2010/main" val="817538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0A0967-B0CA-4A74-BC35-CCA964D5C9AB}"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CCFFF0-0E3A-44E0-9A0B-F5D111E71EEF}" type="slidenum">
              <a:rPr lang="en-IN" smtClean="0"/>
              <a:t>‹#›</a:t>
            </a:fld>
            <a:endParaRPr lang="en-IN"/>
          </a:p>
        </p:txBody>
      </p:sp>
    </p:spTree>
    <p:extLst>
      <p:ext uri="{BB962C8B-B14F-4D97-AF65-F5344CB8AC3E}">
        <p14:creationId xmlns:p14="http://schemas.microsoft.com/office/powerpoint/2010/main" val="3433513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0A0967-B0CA-4A74-BC35-CCA964D5C9AB}"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CCFFF0-0E3A-44E0-9A0B-F5D111E71EEF}" type="slidenum">
              <a:rPr lang="en-IN" smtClean="0"/>
              <a:t>‹#›</a:t>
            </a:fld>
            <a:endParaRPr lang="en-IN"/>
          </a:p>
        </p:txBody>
      </p:sp>
    </p:spTree>
    <p:extLst>
      <p:ext uri="{BB962C8B-B14F-4D97-AF65-F5344CB8AC3E}">
        <p14:creationId xmlns:p14="http://schemas.microsoft.com/office/powerpoint/2010/main" val="15333253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0A0967-B0CA-4A74-BC35-CCA964D5C9AB}"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CCFFF0-0E3A-44E0-9A0B-F5D111E71EEF}"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216678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0A0967-B0CA-4A74-BC35-CCA964D5C9AB}"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CCFFF0-0E3A-44E0-9A0B-F5D111E71EEF}" type="slidenum">
              <a:rPr lang="en-IN" smtClean="0"/>
              <a:t>‹#›</a:t>
            </a:fld>
            <a:endParaRPr lang="en-IN"/>
          </a:p>
        </p:txBody>
      </p:sp>
    </p:spTree>
    <p:extLst>
      <p:ext uri="{BB962C8B-B14F-4D97-AF65-F5344CB8AC3E}">
        <p14:creationId xmlns:p14="http://schemas.microsoft.com/office/powerpoint/2010/main" val="9994695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10A0967-B0CA-4A74-BC35-CCA964D5C9AB}" type="datetimeFigureOut">
              <a:rPr lang="en-IN" smtClean="0"/>
              <a:t>21-09-2026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8CCFFF0-0E3A-44E0-9A0B-F5D111E71EEF}" type="slidenum">
              <a:rPr lang="en-IN" smtClean="0"/>
              <a:t>‹#›</a:t>
            </a:fld>
            <a:endParaRPr lang="en-IN"/>
          </a:p>
        </p:txBody>
      </p:sp>
    </p:spTree>
    <p:extLst>
      <p:ext uri="{BB962C8B-B14F-4D97-AF65-F5344CB8AC3E}">
        <p14:creationId xmlns:p14="http://schemas.microsoft.com/office/powerpoint/2010/main" val="27991505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10A0967-B0CA-4A74-BC35-CCA964D5C9AB}" type="datetimeFigureOut">
              <a:rPr lang="en-IN" smtClean="0"/>
              <a:t>21-09-2026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8CCFFF0-0E3A-44E0-9A0B-F5D111E71EEF}" type="slidenum">
              <a:rPr lang="en-IN" smtClean="0"/>
              <a:t>‹#›</a:t>
            </a:fld>
            <a:endParaRPr lang="en-IN"/>
          </a:p>
        </p:txBody>
      </p:sp>
    </p:spTree>
    <p:extLst>
      <p:ext uri="{BB962C8B-B14F-4D97-AF65-F5344CB8AC3E}">
        <p14:creationId xmlns:p14="http://schemas.microsoft.com/office/powerpoint/2010/main" val="10152369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0A0967-B0CA-4A74-BC35-CCA964D5C9AB}"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CCFFF0-0E3A-44E0-9A0B-F5D111E71EEF}" type="slidenum">
              <a:rPr lang="en-IN" smtClean="0"/>
              <a:t>‹#›</a:t>
            </a:fld>
            <a:endParaRPr lang="en-IN"/>
          </a:p>
        </p:txBody>
      </p:sp>
    </p:spTree>
    <p:extLst>
      <p:ext uri="{BB962C8B-B14F-4D97-AF65-F5344CB8AC3E}">
        <p14:creationId xmlns:p14="http://schemas.microsoft.com/office/powerpoint/2010/main" val="42314055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0A0967-B0CA-4A74-BC35-CCA964D5C9AB}"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CCFFF0-0E3A-44E0-9A0B-F5D111E71EEF}" type="slidenum">
              <a:rPr lang="en-IN" smtClean="0"/>
              <a:t>‹#›</a:t>
            </a:fld>
            <a:endParaRPr lang="en-IN"/>
          </a:p>
        </p:txBody>
      </p:sp>
    </p:spTree>
    <p:extLst>
      <p:ext uri="{BB962C8B-B14F-4D97-AF65-F5344CB8AC3E}">
        <p14:creationId xmlns:p14="http://schemas.microsoft.com/office/powerpoint/2010/main" val="3455612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10A0967-B0CA-4A74-BC35-CCA964D5C9AB}" type="datetimeFigureOut">
              <a:rPr lang="en-IN" smtClean="0"/>
              <a:t>21-09-2026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8CCFFF0-0E3A-44E0-9A0B-F5D111E71EEF}" type="slidenum">
              <a:rPr lang="en-IN" smtClean="0"/>
              <a:t>‹#›</a:t>
            </a:fld>
            <a:endParaRPr lang="en-IN"/>
          </a:p>
        </p:txBody>
      </p:sp>
    </p:spTree>
    <p:extLst>
      <p:ext uri="{BB962C8B-B14F-4D97-AF65-F5344CB8AC3E}">
        <p14:creationId xmlns:p14="http://schemas.microsoft.com/office/powerpoint/2010/main" val="3463393762"/>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D28C2A-6C51-E6A8-6C5B-FEDAAEC0333A}"/>
              </a:ext>
            </a:extLst>
          </p:cNvPr>
          <p:cNvPicPr>
            <a:picLocks noChangeAspect="1"/>
          </p:cNvPicPr>
          <p:nvPr/>
        </p:nvPicPr>
        <p:blipFill rotWithShape="1">
          <a:blip r:embed="rId3"/>
          <a:srcRect t="29"/>
          <a:stretch/>
        </p:blipFill>
        <p:spPr>
          <a:xfrm>
            <a:off x="20" y="2030"/>
            <a:ext cx="12191980" cy="6855970"/>
          </a:xfrm>
          <a:prstGeom prst="rect">
            <a:avLst/>
          </a:prstGeom>
        </p:spPr>
      </p:pic>
      <p:sp>
        <p:nvSpPr>
          <p:cNvPr id="9" name="Rectangle 8">
            <a:extLst>
              <a:ext uri="{FF2B5EF4-FFF2-40B4-BE49-F238E27FC236}">
                <a16:creationId xmlns:a16="http://schemas.microsoft.com/office/drawing/2014/main" id="{BD1CAB03-F6A4-4736-85F6-261056424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3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3E2321B3-5D47-422E-8DD6-192DA485FF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2">
              <a:alphaModFix amt="30000"/>
              <a:duotone>
                <a:prstClr val="black"/>
                <a:schemeClr val="accent3">
                  <a:tint val="45000"/>
                  <a:satMod val="400000"/>
                </a:schemeClr>
              </a:duotone>
              <a:extLst>
                <a:ext uri="{BEBA8EAE-BF5A-486C-A8C5-ECC9F3942E4B}">
                  <a14:imgProps xmlns:a14="http://schemas.microsoft.com/office/drawing/2010/main">
                    <a14:imgLayer>
                      <a14:imgEffect>
                        <a14:sharpenSoften amount="35000"/>
                      </a14:imgEffect>
                    </a14:imgLayer>
                  </a14:imgProps>
                </a:ext>
              </a:extLst>
            </a:blip>
            <a:srcRect/>
            <a:tile tx="0" ty="0" sx="100000" sy="100000" flip="none" algn="ctr"/>
          </a:blip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74CF741-97AB-71B9-22D1-A76981787617}"/>
              </a:ext>
            </a:extLst>
          </p:cNvPr>
          <p:cNvSpPr>
            <a:spLocks noGrp="1"/>
          </p:cNvSpPr>
          <p:nvPr>
            <p:ph type="ctrTitle"/>
          </p:nvPr>
        </p:nvSpPr>
        <p:spPr>
          <a:xfrm>
            <a:off x="1595269" y="1122363"/>
            <a:ext cx="9001462" cy="2387600"/>
          </a:xfrm>
        </p:spPr>
        <p:txBody>
          <a:bodyPr>
            <a:normAutofit/>
          </a:bodyPr>
          <a:lstStyle/>
          <a:p>
            <a:r>
              <a:rPr lang="en-IN" sz="4100" dirty="0">
                <a:highlight>
                  <a:srgbClr val="000000"/>
                </a:highlight>
              </a:rPr>
              <a:t>Customer Food ordering data</a:t>
            </a:r>
            <a:r>
              <a:rPr lang="en-IN" sz="4100" b="1" dirty="0">
                <a:highlight>
                  <a:srgbClr val="000000"/>
                </a:highlight>
              </a:rPr>
              <a:t> ANALYSIS</a:t>
            </a:r>
            <a:br>
              <a:rPr lang="en-IN" sz="4100" b="1" dirty="0">
                <a:highlight>
                  <a:srgbClr val="000000"/>
                </a:highlight>
              </a:rPr>
            </a:br>
            <a:br>
              <a:rPr lang="en-IN" sz="4100" b="1" dirty="0">
                <a:highlight>
                  <a:srgbClr val="000000"/>
                </a:highlight>
              </a:rPr>
            </a:br>
            <a:r>
              <a:rPr lang="en-IN" sz="4100" dirty="0">
                <a:highlight>
                  <a:srgbClr val="000000"/>
                </a:highlight>
              </a:rPr>
              <a:t>Aadil A</a:t>
            </a:r>
            <a:r>
              <a:rPr lang="en-IN" sz="4100" b="1" dirty="0">
                <a:highlight>
                  <a:srgbClr val="000000"/>
                </a:highlight>
              </a:rPr>
              <a:t>  - AF05259524</a:t>
            </a:r>
          </a:p>
        </p:txBody>
      </p:sp>
    </p:spTree>
    <p:extLst>
      <p:ext uri="{BB962C8B-B14F-4D97-AF65-F5344CB8AC3E}">
        <p14:creationId xmlns:p14="http://schemas.microsoft.com/office/powerpoint/2010/main" val="4062317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5" name="Picture 4" descr="Financial graphs on a dark display">
            <a:extLst>
              <a:ext uri="{FF2B5EF4-FFF2-40B4-BE49-F238E27FC236}">
                <a16:creationId xmlns:a16="http://schemas.microsoft.com/office/drawing/2014/main" id="{CDDE6F3C-85FD-D5D9-288A-512E4887614C}"/>
              </a:ext>
            </a:extLst>
          </p:cNvPr>
          <p:cNvPicPr>
            <a:picLocks noChangeAspect="1"/>
          </p:cNvPicPr>
          <p:nvPr/>
        </p:nvPicPr>
        <p:blipFill rotWithShape="1">
          <a:blip r:embed="rId3">
            <a:alphaModFix amt="35000"/>
            <a:grayscl/>
          </a:blip>
          <a:srcRect t="10000"/>
          <a:stretch/>
        </p:blipFill>
        <p:spPr>
          <a:xfrm>
            <a:off x="20" y="10"/>
            <a:ext cx="12191980" cy="6857990"/>
          </a:xfrm>
          <a:prstGeom prst="rect">
            <a:avLst/>
          </a:prstGeom>
        </p:spPr>
      </p:pic>
      <p:sp>
        <p:nvSpPr>
          <p:cNvPr id="16" name="Rectangle 15">
            <a:extLst>
              <a:ext uri="{FF2B5EF4-FFF2-40B4-BE49-F238E27FC236}">
                <a16:creationId xmlns:a16="http://schemas.microsoft.com/office/drawing/2014/main" id="{FC23C8D4-BD3D-4473-B3D0-89011586B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5000"/>
                </a:schemeClr>
              </a:gs>
              <a:gs pos="100000">
                <a:schemeClr val="bg2">
                  <a:lumMod val="40000"/>
                </a:scheme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06F11E7C-B5F0-95AE-21B0-20759E66B7B8}"/>
              </a:ext>
            </a:extLst>
          </p:cNvPr>
          <p:cNvSpPr>
            <a:spLocks noGrp="1"/>
          </p:cNvSpPr>
          <p:nvPr>
            <p:ph type="title"/>
          </p:nvPr>
        </p:nvSpPr>
        <p:spPr>
          <a:xfrm>
            <a:off x="1595268" y="1122363"/>
            <a:ext cx="9244181" cy="392112"/>
          </a:xfrm>
        </p:spPr>
        <p:txBody>
          <a:bodyPr vert="horz" lIns="91440" tIns="45720" rIns="91440" bIns="45720" rtlCol="0" anchor="b">
            <a:normAutofit fontScale="90000"/>
          </a:bodyPr>
          <a:lstStyle/>
          <a:p>
            <a:r>
              <a:rPr lang="en-US" sz="4800" dirty="0"/>
              <a:t>Data analysis lifecycle</a:t>
            </a:r>
          </a:p>
        </p:txBody>
      </p:sp>
      <p:pic>
        <p:nvPicPr>
          <p:cNvPr id="1028" name="Picture 4" descr="Data Analytics Lifecycle">
            <a:extLst>
              <a:ext uri="{FF2B5EF4-FFF2-40B4-BE49-F238E27FC236}">
                <a16:creationId xmlns:a16="http://schemas.microsoft.com/office/drawing/2014/main" id="{D544CF57-F36F-A6A2-36B9-ADBE3A894E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875" y="1914524"/>
            <a:ext cx="5505450" cy="3478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4173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4" name="Picture 3" descr="Calculator, pen, compass, money and a paper with graphs printed on it">
            <a:extLst>
              <a:ext uri="{FF2B5EF4-FFF2-40B4-BE49-F238E27FC236}">
                <a16:creationId xmlns:a16="http://schemas.microsoft.com/office/drawing/2014/main" id="{8BA2ABAC-5C7C-5EEA-2132-4491A6149E1A}"/>
              </a:ext>
            </a:extLst>
          </p:cNvPr>
          <p:cNvPicPr>
            <a:picLocks noChangeAspect="1"/>
          </p:cNvPicPr>
          <p:nvPr/>
        </p:nvPicPr>
        <p:blipFill rotWithShape="1">
          <a:blip r:embed="rId3"/>
          <a:srcRect b="6667"/>
          <a:stretch/>
        </p:blipFill>
        <p:spPr>
          <a:xfrm>
            <a:off x="0" y="2030"/>
            <a:ext cx="12191980" cy="6855970"/>
          </a:xfrm>
          <a:prstGeom prst="rect">
            <a:avLst/>
          </a:prstGeom>
        </p:spPr>
      </p:pic>
      <p:sp>
        <p:nvSpPr>
          <p:cNvPr id="8" name="Rectangle 7">
            <a:extLst>
              <a:ext uri="{FF2B5EF4-FFF2-40B4-BE49-F238E27FC236}">
                <a16:creationId xmlns:a16="http://schemas.microsoft.com/office/drawing/2014/main" id="{BD1CAB03-F6A4-4736-85F6-261056424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3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3E2321B3-5D47-422E-8DD6-192DA485FF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2">
              <a:alphaModFix amt="30000"/>
              <a:duotone>
                <a:prstClr val="black"/>
                <a:schemeClr val="accent3">
                  <a:tint val="45000"/>
                  <a:satMod val="400000"/>
                </a:schemeClr>
              </a:duotone>
              <a:extLst>
                <a:ext uri="{BEBA8EAE-BF5A-486C-A8C5-ECC9F3942E4B}">
                  <a14:imgProps xmlns:a14="http://schemas.microsoft.com/office/drawing/2010/main">
                    <a14:imgLayer>
                      <a14:imgEffect>
                        <a14:sharpenSoften amount="35000"/>
                      </a14:imgEffect>
                    </a14:imgLayer>
                  </a14:imgProps>
                </a:ext>
              </a:extLst>
            </a:blip>
            <a:srcRect/>
            <a:tile tx="0" ty="0" sx="100000" sy="100000" flip="none" algn="ctr"/>
          </a:blip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8C5970-3AFB-955B-7DAC-3E0F5B572062}"/>
              </a:ext>
            </a:extLst>
          </p:cNvPr>
          <p:cNvSpPr>
            <a:spLocks noGrp="1"/>
          </p:cNvSpPr>
          <p:nvPr>
            <p:ph type="title"/>
          </p:nvPr>
        </p:nvSpPr>
        <p:spPr>
          <a:xfrm>
            <a:off x="219456" y="546291"/>
            <a:ext cx="11356847" cy="1072197"/>
          </a:xfrm>
        </p:spPr>
        <p:txBody>
          <a:bodyPr vert="horz" lIns="91440" tIns="45720" rIns="91440" bIns="45720" rtlCol="0" anchor="b">
            <a:normAutofit fontScale="90000"/>
          </a:bodyPr>
          <a:lstStyle/>
          <a:p>
            <a:r>
              <a:rPr lang="en-US" sz="4800" dirty="0"/>
              <a:t>What is RESTAURANT KPI data Analysis ?</a:t>
            </a:r>
          </a:p>
        </p:txBody>
      </p:sp>
      <p:sp>
        <p:nvSpPr>
          <p:cNvPr id="5" name="TextBox 4">
            <a:extLst>
              <a:ext uri="{FF2B5EF4-FFF2-40B4-BE49-F238E27FC236}">
                <a16:creationId xmlns:a16="http://schemas.microsoft.com/office/drawing/2014/main" id="{974373DC-934E-E829-6FCC-D7412D7B1105}"/>
              </a:ext>
            </a:extLst>
          </p:cNvPr>
          <p:cNvSpPr txBox="1"/>
          <p:nvPr/>
        </p:nvSpPr>
        <p:spPr>
          <a:xfrm>
            <a:off x="548641" y="2423160"/>
            <a:ext cx="10799064" cy="3970318"/>
          </a:xfrm>
          <a:prstGeom prst="rect">
            <a:avLst/>
          </a:prstGeom>
          <a:noFill/>
        </p:spPr>
        <p:txBody>
          <a:bodyPr wrap="square">
            <a:spAutoFit/>
          </a:bodyPr>
          <a:lstStyle/>
          <a:p>
            <a:r>
              <a:rPr lang="en-US" dirty="0"/>
              <a:t>Customer Ordering data analysis is the process of examining and interpreting information about how customers behave when they Order. Businesses use this analysis to understand their customers better and make data-driven decisions about things like:</a:t>
            </a:r>
          </a:p>
          <a:p>
            <a:endParaRPr lang="en-US" dirty="0"/>
          </a:p>
          <a:p>
            <a:pPr>
              <a:buFont typeface="Arial" panose="020B0604020202020204" pitchFamily="34" charset="0"/>
              <a:buChar char="•"/>
            </a:pPr>
            <a:r>
              <a:rPr lang="en-US" b="1" dirty="0"/>
              <a:t>Product development and marketing:</a:t>
            </a:r>
            <a:r>
              <a:rPr lang="en-US" dirty="0"/>
              <a:t> By understanding what Food customers are buying together, how much they're spending, and what demographics they fall into, Food Spots can develop targeted selling campaigns and make informed decisions about what products to stock.</a:t>
            </a:r>
          </a:p>
          <a:p>
            <a:pPr>
              <a:buFont typeface="Arial" panose="020B0604020202020204" pitchFamily="34" charset="0"/>
              <a:buChar char="•"/>
            </a:pPr>
            <a:endParaRPr lang="en-US" dirty="0"/>
          </a:p>
          <a:p>
            <a:pPr>
              <a:buFont typeface="Arial" panose="020B0604020202020204" pitchFamily="34" charset="0"/>
              <a:buChar char="•"/>
            </a:pPr>
            <a:r>
              <a:rPr lang="en-US" b="1" dirty="0"/>
              <a:t>Sales and promotions:</a:t>
            </a:r>
            <a:r>
              <a:rPr lang="en-US" dirty="0"/>
              <a:t> Customer data can help businesses identify which products are most popular during certain times of year, and tailor promotions accordingly.</a:t>
            </a:r>
          </a:p>
          <a:p>
            <a:pPr>
              <a:buFont typeface="Arial" panose="020B0604020202020204" pitchFamily="34" charset="0"/>
              <a:buChar char="•"/>
            </a:pPr>
            <a:endParaRPr lang="en-US" dirty="0"/>
          </a:p>
          <a:p>
            <a:pPr>
              <a:buFont typeface="Arial" panose="020B0604020202020204" pitchFamily="34" charset="0"/>
              <a:buChar char="•"/>
            </a:pPr>
            <a:r>
              <a:rPr lang="en-US" b="1" dirty="0"/>
              <a:t>Customer experience:</a:t>
            </a:r>
            <a:r>
              <a:rPr lang="en-US" dirty="0"/>
              <a:t> Analyzing Online and Offline Food Ordering data can help businesses identify areas where the customer experience can be improved, such as by streamlining the checkout process or personalizing recommendations.</a:t>
            </a:r>
          </a:p>
        </p:txBody>
      </p:sp>
    </p:spTree>
    <p:extLst>
      <p:ext uri="{BB962C8B-B14F-4D97-AF65-F5344CB8AC3E}">
        <p14:creationId xmlns:p14="http://schemas.microsoft.com/office/powerpoint/2010/main" val="657916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7" name="Picture 6" descr="Graph on document with pen">
            <a:extLst>
              <a:ext uri="{FF2B5EF4-FFF2-40B4-BE49-F238E27FC236}">
                <a16:creationId xmlns:a16="http://schemas.microsoft.com/office/drawing/2014/main" id="{F7908896-50D7-9DF7-1DCC-07FAFC9EA852}"/>
              </a:ext>
            </a:extLst>
          </p:cNvPr>
          <p:cNvPicPr>
            <a:picLocks noChangeAspect="1"/>
          </p:cNvPicPr>
          <p:nvPr/>
        </p:nvPicPr>
        <p:blipFill rotWithShape="1">
          <a:blip r:embed="rId3">
            <a:alphaModFix amt="35000"/>
          </a:blip>
          <a:srcRect t="1523" b="14232"/>
          <a:stretch/>
        </p:blipFill>
        <p:spPr>
          <a:xfrm>
            <a:off x="20" y="2030"/>
            <a:ext cx="12191980" cy="6855970"/>
          </a:xfrm>
          <a:prstGeom prst="rect">
            <a:avLst/>
          </a:prstGeom>
        </p:spPr>
      </p:pic>
      <p:sp>
        <p:nvSpPr>
          <p:cNvPr id="11" name="Rectangle 10">
            <a:extLst>
              <a:ext uri="{FF2B5EF4-FFF2-40B4-BE49-F238E27FC236}">
                <a16:creationId xmlns:a16="http://schemas.microsoft.com/office/drawing/2014/main" id="{4DE0D6BE-330A-422D-9BD9-1E18F73C6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6E529735-024D-75CF-0717-2E10375A6441}"/>
              </a:ext>
            </a:extLst>
          </p:cNvPr>
          <p:cNvSpPr>
            <a:spLocks noGrp="1"/>
          </p:cNvSpPr>
          <p:nvPr>
            <p:ph type="title"/>
          </p:nvPr>
        </p:nvSpPr>
        <p:spPr>
          <a:xfrm>
            <a:off x="913795" y="609600"/>
            <a:ext cx="10353761" cy="1326321"/>
          </a:xfrm>
        </p:spPr>
        <p:txBody>
          <a:bodyPr vert="horz" lIns="91440" tIns="45720" rIns="91440" bIns="45720" rtlCol="0" anchor="ctr">
            <a:normAutofit/>
          </a:bodyPr>
          <a:lstStyle/>
          <a:p>
            <a:r>
              <a:rPr lang="en-US" dirty="0"/>
              <a:t>Why customer Ordering data Analysis ?</a:t>
            </a:r>
          </a:p>
        </p:txBody>
      </p:sp>
      <p:sp>
        <p:nvSpPr>
          <p:cNvPr id="5" name="TextBox 4">
            <a:extLst>
              <a:ext uri="{FF2B5EF4-FFF2-40B4-BE49-F238E27FC236}">
                <a16:creationId xmlns:a16="http://schemas.microsoft.com/office/drawing/2014/main" id="{0210E84C-7A75-3531-8B86-45E88B3262F0}"/>
              </a:ext>
            </a:extLst>
          </p:cNvPr>
          <p:cNvSpPr txBox="1"/>
          <p:nvPr/>
        </p:nvSpPr>
        <p:spPr>
          <a:xfrm>
            <a:off x="913795" y="2096064"/>
            <a:ext cx="10353762" cy="3695136"/>
          </a:xfrm>
          <a:prstGeom prst="rect">
            <a:avLst/>
          </a:prstGeom>
        </p:spPr>
        <p:txBody>
          <a:bodyPr vert="horz" lIns="91440" tIns="45720" rIns="91440" bIns="45720" rtlCol="0">
            <a:normAutofit/>
          </a:bodyPr>
          <a:lstStyle/>
          <a:p>
            <a:pPr indent="-228600" defTabSz="914400">
              <a:lnSpc>
                <a:spcPct val="120000"/>
              </a:lnSpc>
              <a:spcAft>
                <a:spcPts val="600"/>
              </a:spcAft>
              <a:buFont typeface="Arial" panose="020B0604020202020204" pitchFamily="34" charset="0"/>
              <a:buChar char="•"/>
            </a:pPr>
            <a:r>
              <a:rPr lang="en-US" dirty="0"/>
              <a:t>Restaurant KPI data analysis is crucial for businesses in the retail industry to understand their customers' behavior and optimize their strategies. This specific dataset provides valuable insights into food ordering habits in India, focusing on many between 2021 and 2023.</a:t>
            </a:r>
            <a:endParaRPr lang="en-US" dirty="0">
              <a:effectLst>
                <a:outerShdw blurRad="50800" dist="38100" dir="2700000" algn="tl" rotWithShape="0">
                  <a:srgbClr val="000000">
                    <a:alpha val="48000"/>
                  </a:srgbClr>
                </a:outerShdw>
              </a:effectLst>
            </a:endParaRPr>
          </a:p>
        </p:txBody>
      </p:sp>
    </p:spTree>
    <p:extLst>
      <p:ext uri="{BB962C8B-B14F-4D97-AF65-F5344CB8AC3E}">
        <p14:creationId xmlns:p14="http://schemas.microsoft.com/office/powerpoint/2010/main" val="1413270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5" name="Picture 4" descr="Pen placed on top of a signature line">
            <a:extLst>
              <a:ext uri="{FF2B5EF4-FFF2-40B4-BE49-F238E27FC236}">
                <a16:creationId xmlns:a16="http://schemas.microsoft.com/office/drawing/2014/main" id="{562E08E5-3164-9710-402C-42A3B1A14243}"/>
              </a:ext>
            </a:extLst>
          </p:cNvPr>
          <p:cNvPicPr>
            <a:picLocks noChangeAspect="1"/>
          </p:cNvPicPr>
          <p:nvPr/>
        </p:nvPicPr>
        <p:blipFill rotWithShape="1">
          <a:blip r:embed="rId3">
            <a:alphaModFix amt="35000"/>
          </a:blip>
          <a:srcRect b="15755"/>
          <a:stretch/>
        </p:blipFill>
        <p:spPr>
          <a:xfrm>
            <a:off x="20" y="2030"/>
            <a:ext cx="12191980" cy="6855970"/>
          </a:xfrm>
          <a:prstGeom prst="rect">
            <a:avLst/>
          </a:prstGeom>
        </p:spPr>
      </p:pic>
      <p:sp>
        <p:nvSpPr>
          <p:cNvPr id="9" name="Rectangle 8">
            <a:extLst>
              <a:ext uri="{FF2B5EF4-FFF2-40B4-BE49-F238E27FC236}">
                <a16:creationId xmlns:a16="http://schemas.microsoft.com/office/drawing/2014/main" id="{4DE0D6BE-330A-422D-9BD9-1E18F73C6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12064A29-5185-4AC8-54BB-870B6FACF62A}"/>
              </a:ext>
            </a:extLst>
          </p:cNvPr>
          <p:cNvSpPr>
            <a:spLocks noGrp="1"/>
          </p:cNvSpPr>
          <p:nvPr>
            <p:ph type="title"/>
          </p:nvPr>
        </p:nvSpPr>
        <p:spPr>
          <a:xfrm>
            <a:off x="913795" y="609600"/>
            <a:ext cx="10353761" cy="1326321"/>
          </a:xfrm>
        </p:spPr>
        <p:txBody>
          <a:bodyPr>
            <a:normAutofit/>
          </a:bodyPr>
          <a:lstStyle/>
          <a:p>
            <a:r>
              <a:rPr lang="en-IN" b="1" dirty="0"/>
              <a:t>Problem Statement</a:t>
            </a:r>
          </a:p>
        </p:txBody>
      </p:sp>
      <p:sp>
        <p:nvSpPr>
          <p:cNvPr id="3" name="Content Placeholder 2">
            <a:extLst>
              <a:ext uri="{FF2B5EF4-FFF2-40B4-BE49-F238E27FC236}">
                <a16:creationId xmlns:a16="http://schemas.microsoft.com/office/drawing/2014/main" id="{7B0751DE-8170-CC0D-4717-64B4D281575C}"/>
              </a:ext>
            </a:extLst>
          </p:cNvPr>
          <p:cNvSpPr>
            <a:spLocks noGrp="1"/>
          </p:cNvSpPr>
          <p:nvPr>
            <p:ph idx="1"/>
          </p:nvPr>
        </p:nvSpPr>
        <p:spPr>
          <a:xfrm>
            <a:off x="913795" y="2096064"/>
            <a:ext cx="10353762" cy="3695136"/>
          </a:xfrm>
        </p:spPr>
        <p:txBody>
          <a:bodyPr>
            <a:normAutofit/>
          </a:bodyPr>
          <a:lstStyle/>
          <a:p>
            <a:pPr marL="0" indent="0">
              <a:buNone/>
            </a:pPr>
            <a:r>
              <a:rPr lang="en-US" dirty="0"/>
              <a:t>The project aims to gain a deeper understanding of customer ordering patterns using the Customer Ordering Dataset. It can help explore customer choices, ideal food, and predict selling volume.</a:t>
            </a:r>
            <a:endParaRPr lang="en-IN" dirty="0"/>
          </a:p>
        </p:txBody>
      </p:sp>
    </p:spTree>
    <p:extLst>
      <p:ext uri="{BB962C8B-B14F-4D97-AF65-F5344CB8AC3E}">
        <p14:creationId xmlns:p14="http://schemas.microsoft.com/office/powerpoint/2010/main" val="3960670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3BAA3E-4ECD-B59E-DADA-920DE22D93B6}"/>
              </a:ext>
            </a:extLst>
          </p:cNvPr>
          <p:cNvPicPr>
            <a:picLocks noChangeAspect="1"/>
          </p:cNvPicPr>
          <p:nvPr/>
        </p:nvPicPr>
        <p:blipFill rotWithShape="1">
          <a:blip r:embed="rId3">
            <a:alphaModFix amt="35000"/>
          </a:blip>
          <a:srcRect t="29"/>
          <a:stretch/>
        </p:blipFill>
        <p:spPr>
          <a:xfrm>
            <a:off x="20" y="0"/>
            <a:ext cx="12191980" cy="6858000"/>
          </a:xfrm>
          <a:prstGeom prst="rect">
            <a:avLst/>
          </a:prstGeom>
        </p:spPr>
      </p:pic>
      <p:sp>
        <p:nvSpPr>
          <p:cNvPr id="9" name="Rectangle 8">
            <a:extLst>
              <a:ext uri="{FF2B5EF4-FFF2-40B4-BE49-F238E27FC236}">
                <a16:creationId xmlns:a16="http://schemas.microsoft.com/office/drawing/2014/main" id="{4DE0D6BE-330A-422D-9BD9-1E18F73C6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57DC2C66-32A9-A55F-03F6-983F44427F95}"/>
              </a:ext>
            </a:extLst>
          </p:cNvPr>
          <p:cNvSpPr>
            <a:spLocks noGrp="1"/>
          </p:cNvSpPr>
          <p:nvPr>
            <p:ph type="title"/>
          </p:nvPr>
        </p:nvSpPr>
        <p:spPr>
          <a:xfrm>
            <a:off x="913795" y="609600"/>
            <a:ext cx="10353761" cy="1326321"/>
          </a:xfrm>
        </p:spPr>
        <p:txBody>
          <a:bodyPr>
            <a:normAutofit/>
          </a:bodyPr>
          <a:lstStyle/>
          <a:p>
            <a:r>
              <a:rPr lang="en-IN" b="1" dirty="0"/>
              <a:t>Aim</a:t>
            </a:r>
            <a:br>
              <a:rPr lang="en-IN" dirty="0"/>
            </a:br>
            <a:endParaRPr lang="en-IN" dirty="0"/>
          </a:p>
        </p:txBody>
      </p:sp>
      <p:sp>
        <p:nvSpPr>
          <p:cNvPr id="3" name="Content Placeholder 2">
            <a:extLst>
              <a:ext uri="{FF2B5EF4-FFF2-40B4-BE49-F238E27FC236}">
                <a16:creationId xmlns:a16="http://schemas.microsoft.com/office/drawing/2014/main" id="{45ED4C40-0C81-4BE1-C91C-AA391240133D}"/>
              </a:ext>
            </a:extLst>
          </p:cNvPr>
          <p:cNvSpPr>
            <a:spLocks noGrp="1"/>
          </p:cNvSpPr>
          <p:nvPr>
            <p:ph idx="1"/>
          </p:nvPr>
        </p:nvSpPr>
        <p:spPr>
          <a:xfrm>
            <a:off x="913795" y="2096064"/>
            <a:ext cx="10353762" cy="3695136"/>
          </a:xfrm>
        </p:spPr>
        <p:txBody>
          <a:bodyPr>
            <a:normAutofit fontScale="85000" lnSpcReduction="20000"/>
          </a:bodyPr>
          <a:lstStyle/>
          <a:p>
            <a:r>
              <a:rPr lang="en-US" dirty="0"/>
              <a:t>By analyzing this data, we hope to uncover insights such as:</a:t>
            </a:r>
          </a:p>
          <a:p>
            <a:pPr>
              <a:buFont typeface="Arial" panose="020B0604020202020204" pitchFamily="34" charset="0"/>
              <a:buChar char="•"/>
            </a:pPr>
            <a:r>
              <a:rPr lang="en-US" b="1" dirty="0"/>
              <a:t>Customer demographics:</a:t>
            </a:r>
            <a:r>
              <a:rPr lang="en-US" dirty="0"/>
              <a:t> Understanding the typical customer profile (age, gender) for different food categories and restaurants.</a:t>
            </a:r>
          </a:p>
          <a:p>
            <a:pPr>
              <a:buFont typeface="Arial" panose="020B0604020202020204" pitchFamily="34" charset="0"/>
              <a:buChar char="•"/>
            </a:pPr>
            <a:r>
              <a:rPr lang="en-US" b="1" dirty="0"/>
              <a:t>Purchasing behavior:</a:t>
            </a:r>
            <a:r>
              <a:rPr lang="en-US" dirty="0"/>
              <a:t> Analyzing trends in purchase frequency, quantity, and total spending.</a:t>
            </a:r>
          </a:p>
          <a:p>
            <a:pPr>
              <a:buFont typeface="Arial" panose="020B0604020202020204" pitchFamily="34" charset="0"/>
              <a:buChar char="•"/>
            </a:pPr>
            <a:r>
              <a:rPr lang="en-US" b="1" dirty="0"/>
              <a:t>Product popularity:</a:t>
            </a:r>
            <a:r>
              <a:rPr lang="en-US" dirty="0"/>
              <a:t> Identifying the most popular product categories across different varieties and food spots.</a:t>
            </a:r>
          </a:p>
          <a:p>
            <a:pPr>
              <a:buFont typeface="Arial" panose="020B0604020202020204" pitchFamily="34" charset="0"/>
              <a:buChar char="•"/>
            </a:pPr>
            <a:r>
              <a:rPr lang="en-US" b="1" dirty="0"/>
              <a:t>Payment preferences:</a:t>
            </a:r>
            <a:r>
              <a:rPr lang="en-US" dirty="0"/>
              <a:t> Understanding the preferred payment methods (cash, credit card, debit card) used by different customer segments.</a:t>
            </a:r>
          </a:p>
          <a:p>
            <a:pPr>
              <a:buFont typeface="Arial" panose="020B0604020202020204" pitchFamily="34" charset="0"/>
              <a:buChar char="•"/>
            </a:pPr>
            <a:r>
              <a:rPr lang="en-US" b="1" dirty="0"/>
              <a:t>Seasonal trends:</a:t>
            </a:r>
            <a:r>
              <a:rPr lang="en-US" dirty="0"/>
              <a:t> Analyzing how customer habits vary throughout the year.</a:t>
            </a:r>
          </a:p>
          <a:p>
            <a:pPr>
              <a:buFont typeface="Arial" panose="020B0604020202020204" pitchFamily="34" charset="0"/>
              <a:buChar char="•"/>
            </a:pPr>
            <a:r>
              <a:rPr lang="en-US" b="1" dirty="0"/>
              <a:t>Hotel performance:</a:t>
            </a:r>
            <a:r>
              <a:rPr lang="en-US" dirty="0"/>
              <a:t> Comparing customer behavior and spending patterns across the restaurant.</a:t>
            </a:r>
          </a:p>
          <a:p>
            <a:endParaRPr lang="en-IN" dirty="0"/>
          </a:p>
        </p:txBody>
      </p:sp>
    </p:spTree>
    <p:extLst>
      <p:ext uri="{BB962C8B-B14F-4D97-AF65-F5344CB8AC3E}">
        <p14:creationId xmlns:p14="http://schemas.microsoft.com/office/powerpoint/2010/main" val="3043586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3BAA3E-4ECD-B59E-DADA-920DE22D93B6}"/>
              </a:ext>
            </a:extLst>
          </p:cNvPr>
          <p:cNvPicPr>
            <a:picLocks noChangeAspect="1"/>
          </p:cNvPicPr>
          <p:nvPr/>
        </p:nvPicPr>
        <p:blipFill rotWithShape="1">
          <a:blip r:embed="rId3">
            <a:alphaModFix amt="35000"/>
          </a:blip>
          <a:srcRect t="29"/>
          <a:stretch/>
        </p:blipFill>
        <p:spPr>
          <a:xfrm>
            <a:off x="20" y="0"/>
            <a:ext cx="12191980" cy="6858000"/>
          </a:xfrm>
          <a:prstGeom prst="rect">
            <a:avLst/>
          </a:prstGeom>
        </p:spPr>
      </p:pic>
      <p:sp>
        <p:nvSpPr>
          <p:cNvPr id="9" name="Rectangle 8">
            <a:extLst>
              <a:ext uri="{FF2B5EF4-FFF2-40B4-BE49-F238E27FC236}">
                <a16:creationId xmlns:a16="http://schemas.microsoft.com/office/drawing/2014/main" id="{4DE0D6BE-330A-422D-9BD9-1E18F73C6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57DC2C66-32A9-A55F-03F6-983F44427F95}"/>
              </a:ext>
            </a:extLst>
          </p:cNvPr>
          <p:cNvSpPr>
            <a:spLocks noGrp="1"/>
          </p:cNvSpPr>
          <p:nvPr>
            <p:ph type="title"/>
          </p:nvPr>
        </p:nvSpPr>
        <p:spPr>
          <a:xfrm>
            <a:off x="913795" y="609600"/>
            <a:ext cx="10353761" cy="1326321"/>
          </a:xfrm>
        </p:spPr>
        <p:txBody>
          <a:bodyPr>
            <a:normAutofit/>
          </a:bodyPr>
          <a:lstStyle/>
          <a:p>
            <a:r>
              <a:rPr lang="en-IN" b="1" dirty="0"/>
              <a:t>methodologies</a:t>
            </a:r>
            <a:br>
              <a:rPr lang="en-IN" dirty="0"/>
            </a:br>
            <a:endParaRPr lang="en-IN" dirty="0"/>
          </a:p>
        </p:txBody>
      </p:sp>
      <p:sp>
        <p:nvSpPr>
          <p:cNvPr id="3" name="Content Placeholder 2">
            <a:extLst>
              <a:ext uri="{FF2B5EF4-FFF2-40B4-BE49-F238E27FC236}">
                <a16:creationId xmlns:a16="http://schemas.microsoft.com/office/drawing/2014/main" id="{45ED4C40-0C81-4BE1-C91C-AA391240133D}"/>
              </a:ext>
            </a:extLst>
          </p:cNvPr>
          <p:cNvSpPr>
            <a:spLocks noGrp="1"/>
          </p:cNvSpPr>
          <p:nvPr>
            <p:ph idx="1"/>
          </p:nvPr>
        </p:nvSpPr>
        <p:spPr>
          <a:xfrm>
            <a:off x="913795" y="2096064"/>
            <a:ext cx="10353762" cy="3695136"/>
          </a:xfrm>
        </p:spPr>
        <p:txBody>
          <a:bodyPr>
            <a:normAutofit/>
          </a:bodyPr>
          <a:lstStyle/>
          <a:p>
            <a:r>
              <a:rPr lang="en-US" dirty="0"/>
              <a:t> NumPy: Provides support for efficient numerical computations and array operations.</a:t>
            </a:r>
          </a:p>
          <a:p>
            <a:r>
              <a:rPr lang="en-US" dirty="0"/>
              <a:t> Pandas: Offers data manipulation and analysis tools through </a:t>
            </a:r>
            <a:r>
              <a:rPr lang="en-US" dirty="0" err="1"/>
              <a:t>dataframes</a:t>
            </a:r>
            <a:r>
              <a:rPr lang="en-US" dirty="0"/>
              <a:t>.</a:t>
            </a:r>
          </a:p>
          <a:p>
            <a:r>
              <a:rPr lang="en-US" dirty="0"/>
              <a:t> Matplotlib: Enables creating static, interactive, and animated visualizations.</a:t>
            </a:r>
          </a:p>
          <a:p>
            <a:r>
              <a:rPr lang="en-US" dirty="0"/>
              <a:t> Seaborn: Builds on Matplotlib to provide a high-level interface for drawing attractive statistical graphics.</a:t>
            </a:r>
          </a:p>
          <a:p>
            <a:r>
              <a:rPr lang="en-US" dirty="0"/>
              <a:t>MySQL Connector/Python: Loads the cleaned dataset into a MySQL database for structured storage and Power BI connectivity.</a:t>
            </a:r>
          </a:p>
        </p:txBody>
      </p:sp>
    </p:spTree>
    <p:extLst>
      <p:ext uri="{BB962C8B-B14F-4D97-AF65-F5344CB8AC3E}">
        <p14:creationId xmlns:p14="http://schemas.microsoft.com/office/powerpoint/2010/main" val="496938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3BAA3E-4ECD-B59E-DADA-920DE22D93B6}"/>
              </a:ext>
            </a:extLst>
          </p:cNvPr>
          <p:cNvPicPr>
            <a:picLocks noChangeAspect="1"/>
          </p:cNvPicPr>
          <p:nvPr/>
        </p:nvPicPr>
        <p:blipFill rotWithShape="1">
          <a:blip r:embed="rId3">
            <a:alphaModFix amt="35000"/>
          </a:blip>
          <a:srcRect t="29"/>
          <a:stretch/>
        </p:blipFill>
        <p:spPr>
          <a:xfrm>
            <a:off x="20" y="0"/>
            <a:ext cx="12191980" cy="6858000"/>
          </a:xfrm>
          <a:prstGeom prst="rect">
            <a:avLst/>
          </a:prstGeom>
        </p:spPr>
      </p:pic>
      <p:sp>
        <p:nvSpPr>
          <p:cNvPr id="9" name="Rectangle 8">
            <a:extLst>
              <a:ext uri="{FF2B5EF4-FFF2-40B4-BE49-F238E27FC236}">
                <a16:creationId xmlns:a16="http://schemas.microsoft.com/office/drawing/2014/main" id="{4DE0D6BE-330A-422D-9BD9-1E18F73C6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57DC2C66-32A9-A55F-03F6-983F44427F95}"/>
              </a:ext>
            </a:extLst>
          </p:cNvPr>
          <p:cNvSpPr>
            <a:spLocks noGrp="1"/>
          </p:cNvSpPr>
          <p:nvPr>
            <p:ph type="title"/>
          </p:nvPr>
        </p:nvSpPr>
        <p:spPr>
          <a:xfrm>
            <a:off x="913795" y="609600"/>
            <a:ext cx="10353761" cy="1326321"/>
          </a:xfrm>
        </p:spPr>
        <p:txBody>
          <a:bodyPr>
            <a:normAutofit/>
          </a:bodyPr>
          <a:lstStyle/>
          <a:p>
            <a:r>
              <a:rPr lang="en-IN" b="1" dirty="0"/>
              <a:t>Project Architecture</a:t>
            </a:r>
            <a:br>
              <a:rPr lang="en-IN" dirty="0"/>
            </a:br>
            <a:endParaRPr lang="en-IN" dirty="0"/>
          </a:p>
        </p:txBody>
      </p:sp>
      <p:sp>
        <p:nvSpPr>
          <p:cNvPr id="3" name="Content Placeholder 2">
            <a:extLst>
              <a:ext uri="{FF2B5EF4-FFF2-40B4-BE49-F238E27FC236}">
                <a16:creationId xmlns:a16="http://schemas.microsoft.com/office/drawing/2014/main" id="{45ED4C40-0C81-4BE1-C91C-AA391240133D}"/>
              </a:ext>
            </a:extLst>
          </p:cNvPr>
          <p:cNvSpPr>
            <a:spLocks noGrp="1"/>
          </p:cNvSpPr>
          <p:nvPr>
            <p:ph idx="1"/>
          </p:nvPr>
        </p:nvSpPr>
        <p:spPr>
          <a:xfrm>
            <a:off x="913795" y="1437302"/>
            <a:ext cx="10353762" cy="4275239"/>
          </a:xfrm>
        </p:spPr>
        <p:txBody>
          <a:bodyPr>
            <a:normAutofit fontScale="92500" lnSpcReduction="20000"/>
          </a:bodyPr>
          <a:lstStyle/>
          <a:p>
            <a:r>
              <a:rPr lang="en-US" dirty="0"/>
              <a:t> Data Ingestion: The raw customer_shopping_data.csv is loaded into a Python environment for processing.</a:t>
            </a:r>
          </a:p>
          <a:p>
            <a:r>
              <a:rPr lang="en-US" dirty="0"/>
              <a:t> Preprocessing: Pandas and NumPy clean the data, engineer features (total_amount, date parts), normalize numeric columns, and one-hot encode categorical fields.</a:t>
            </a:r>
          </a:p>
          <a:p>
            <a:r>
              <a:rPr lang="en-US" dirty="0"/>
              <a:t> Exploratory Analysis: Matplotlib and Seaborn generate charts covering category sales, demographics, payment methods, seasonality, and mall performance.</a:t>
            </a:r>
          </a:p>
          <a:p>
            <a:r>
              <a:rPr lang="en-US" dirty="0"/>
              <a:t> Normalization: Scikit-learn's MinMaxScaler scales numeric features (age, quantity, price, total_amount) to a comparable range, preparing the data for future modeling.</a:t>
            </a:r>
          </a:p>
          <a:p>
            <a:r>
              <a:rPr lang="en-US" dirty="0"/>
              <a:t> Storage: The cleaned dataset is loaded into a MySQL database via mysql-connector-python.</a:t>
            </a:r>
          </a:p>
          <a:p>
            <a:r>
              <a:rPr lang="en-US" dirty="0"/>
              <a:t> Reporting: Power BI connects to MySQL to build an interactive KPI dashboard for stakeholders.</a:t>
            </a:r>
          </a:p>
        </p:txBody>
      </p:sp>
    </p:spTree>
    <p:extLst>
      <p:ext uri="{BB962C8B-B14F-4D97-AF65-F5344CB8AC3E}">
        <p14:creationId xmlns:p14="http://schemas.microsoft.com/office/powerpoint/2010/main" val="496938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5" name="Picture 4" descr="Glowing circuit board">
            <a:extLst>
              <a:ext uri="{FF2B5EF4-FFF2-40B4-BE49-F238E27FC236}">
                <a16:creationId xmlns:a16="http://schemas.microsoft.com/office/drawing/2014/main" id="{59C6BBA8-C425-1D2B-257B-719208FBB442}"/>
              </a:ext>
            </a:extLst>
          </p:cNvPr>
          <p:cNvPicPr>
            <a:picLocks noChangeAspect="1"/>
          </p:cNvPicPr>
          <p:nvPr/>
        </p:nvPicPr>
        <p:blipFill rotWithShape="1">
          <a:blip r:embed="rId3">
            <a:alphaModFix amt="35000"/>
          </a:blip>
          <a:srcRect b="15755"/>
          <a:stretch/>
        </p:blipFill>
        <p:spPr>
          <a:xfrm>
            <a:off x="20" y="2030"/>
            <a:ext cx="12191980" cy="6855970"/>
          </a:xfrm>
          <a:prstGeom prst="rect">
            <a:avLst/>
          </a:prstGeom>
        </p:spPr>
      </p:pic>
      <p:sp>
        <p:nvSpPr>
          <p:cNvPr id="9" name="Rectangle 8">
            <a:extLst>
              <a:ext uri="{FF2B5EF4-FFF2-40B4-BE49-F238E27FC236}">
                <a16:creationId xmlns:a16="http://schemas.microsoft.com/office/drawing/2014/main" id="{4DE0D6BE-330A-422D-9BD9-1E18F73C6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C9FE5E33-BC5E-09BB-5278-96B14400B72F}"/>
              </a:ext>
            </a:extLst>
          </p:cNvPr>
          <p:cNvSpPr>
            <a:spLocks noGrp="1"/>
          </p:cNvSpPr>
          <p:nvPr>
            <p:ph type="title"/>
          </p:nvPr>
        </p:nvSpPr>
        <p:spPr>
          <a:xfrm>
            <a:off x="913795" y="609600"/>
            <a:ext cx="10353761" cy="1326321"/>
          </a:xfrm>
        </p:spPr>
        <p:txBody>
          <a:bodyPr>
            <a:normAutofit/>
          </a:bodyPr>
          <a:lstStyle/>
          <a:p>
            <a:r>
              <a:rPr lang="en-IN" dirty="0"/>
              <a:t>Hardware and Software Requirements</a:t>
            </a:r>
          </a:p>
        </p:txBody>
      </p:sp>
      <p:sp>
        <p:nvSpPr>
          <p:cNvPr id="3" name="Content Placeholder 2">
            <a:extLst>
              <a:ext uri="{FF2B5EF4-FFF2-40B4-BE49-F238E27FC236}">
                <a16:creationId xmlns:a16="http://schemas.microsoft.com/office/drawing/2014/main" id="{9F2934D2-9FFF-9207-91A7-266FFD50E941}"/>
              </a:ext>
            </a:extLst>
          </p:cNvPr>
          <p:cNvSpPr>
            <a:spLocks noGrp="1"/>
          </p:cNvSpPr>
          <p:nvPr>
            <p:ph idx="1"/>
          </p:nvPr>
        </p:nvSpPr>
        <p:spPr>
          <a:xfrm>
            <a:off x="913795" y="2096064"/>
            <a:ext cx="10353762" cy="3695136"/>
          </a:xfrm>
        </p:spPr>
        <p:txBody>
          <a:bodyPr>
            <a:normAutofit/>
          </a:bodyPr>
          <a:lstStyle/>
          <a:p>
            <a:pPr marL="342900" lvl="0" indent="-342900">
              <a:lnSpc>
                <a:spcPct val="110000"/>
              </a:lnSpc>
              <a:spcAft>
                <a:spcPts val="800"/>
              </a:spcAft>
              <a:tabLst>
                <a:tab pos="457200" algn="l"/>
              </a:tabLst>
            </a:pPr>
            <a:r>
              <a:rPr lang="en-IN" b="1" kern="100">
                <a:effectLst/>
                <a:latin typeface="Calibri" panose="020F0502020204030204" pitchFamily="34" charset="0"/>
                <a:ea typeface="Calibri" panose="020F0502020204030204" pitchFamily="34" charset="0"/>
                <a:cs typeface="Times New Roman" panose="02020603050405020304" pitchFamily="18" charset="0"/>
              </a:rPr>
              <a:t>Processor</a:t>
            </a:r>
            <a:r>
              <a:rPr lang="en-IN" kern="100">
                <a:effectLst/>
                <a:latin typeface="Times New Roman" panose="02020603050405020304" pitchFamily="18" charset="0"/>
                <a:ea typeface="Calibri" panose="020F0502020204030204" pitchFamily="34" charset="0"/>
                <a:cs typeface="Times New Roman" panose="02020603050405020304" pitchFamily="18" charset="0"/>
              </a:rPr>
              <a:t>: Intel Core i5 or equivalent (minimum), Intel Core i7 or higher (recommended)</a:t>
            </a:r>
            <a:endParaRPr lang="en-IN"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0000"/>
              </a:lnSpc>
              <a:spcAft>
                <a:spcPts val="800"/>
              </a:spcAft>
              <a:tabLst>
                <a:tab pos="457200" algn="l"/>
              </a:tabLst>
            </a:pPr>
            <a:r>
              <a:rPr lang="en-IN" b="1" kern="100">
                <a:effectLst/>
                <a:latin typeface="Calibri" panose="020F0502020204030204" pitchFamily="34" charset="0"/>
                <a:ea typeface="Calibri" panose="020F0502020204030204" pitchFamily="34" charset="0"/>
                <a:cs typeface="Times New Roman" panose="02020603050405020304" pitchFamily="18" charset="0"/>
              </a:rPr>
              <a:t>RAM</a:t>
            </a:r>
            <a:r>
              <a:rPr lang="en-IN" kern="100">
                <a:effectLst/>
                <a:latin typeface="Times New Roman" panose="02020603050405020304" pitchFamily="18" charset="0"/>
                <a:ea typeface="Calibri" panose="020F0502020204030204" pitchFamily="34" charset="0"/>
                <a:cs typeface="Times New Roman" panose="02020603050405020304" pitchFamily="18" charset="0"/>
              </a:rPr>
              <a:t>: 8 GB (minimum), 16 GB or more (recommended)</a:t>
            </a:r>
            <a:endParaRPr lang="en-IN"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0000"/>
              </a:lnSpc>
              <a:spcAft>
                <a:spcPts val="800"/>
              </a:spcAft>
              <a:tabLst>
                <a:tab pos="457200" algn="l"/>
              </a:tabLst>
            </a:pPr>
            <a:r>
              <a:rPr lang="en-IN" b="1" kern="100">
                <a:effectLst/>
                <a:latin typeface="Calibri" panose="020F0502020204030204" pitchFamily="34" charset="0"/>
                <a:ea typeface="Calibri" panose="020F0502020204030204" pitchFamily="34" charset="0"/>
                <a:cs typeface="Times New Roman" panose="02020603050405020304" pitchFamily="18" charset="0"/>
              </a:rPr>
              <a:t>Storage</a:t>
            </a:r>
            <a:r>
              <a:rPr lang="en-IN" kern="100">
                <a:effectLst/>
                <a:latin typeface="Times New Roman" panose="02020603050405020304" pitchFamily="18" charset="0"/>
                <a:ea typeface="Calibri" panose="020F0502020204030204" pitchFamily="34" charset="0"/>
                <a:cs typeface="Times New Roman" panose="02020603050405020304" pitchFamily="18" charset="0"/>
              </a:rPr>
              <a:t>: 256 GB SSD (minimum), 512 GB SSD or more (recommended)</a:t>
            </a:r>
            <a:endParaRPr lang="en-IN"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0000"/>
              </a:lnSpc>
              <a:spcAft>
                <a:spcPts val="800"/>
              </a:spcAft>
              <a:tabLst>
                <a:tab pos="457200" algn="l"/>
              </a:tabLst>
            </a:pPr>
            <a:r>
              <a:rPr lang="en-IN" b="1" kern="100">
                <a:effectLst/>
                <a:latin typeface="Calibri" panose="020F0502020204030204" pitchFamily="34" charset="0"/>
                <a:ea typeface="Calibri" panose="020F0502020204030204" pitchFamily="34" charset="0"/>
                <a:cs typeface="Times New Roman" panose="02020603050405020304" pitchFamily="18" charset="0"/>
              </a:rPr>
              <a:t>Graphics</a:t>
            </a:r>
            <a:r>
              <a:rPr lang="en-IN" kern="100">
                <a:effectLst/>
                <a:latin typeface="Times New Roman" panose="02020603050405020304" pitchFamily="18" charset="0"/>
                <a:ea typeface="Calibri" panose="020F0502020204030204" pitchFamily="34" charset="0"/>
                <a:cs typeface="Times New Roman" panose="02020603050405020304" pitchFamily="18" charset="0"/>
              </a:rPr>
              <a:t>: Integrated graphics for basic visualization, dedicated GPU for more intensive visualizations</a:t>
            </a:r>
            <a:endParaRPr lang="en-IN"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0000"/>
              </a:lnSpc>
              <a:spcAft>
                <a:spcPts val="800"/>
              </a:spcAft>
              <a:tabLst>
                <a:tab pos="457200" algn="l"/>
              </a:tabLst>
            </a:pPr>
            <a:r>
              <a:rPr lang="en-IN" b="1" kern="100">
                <a:effectLst/>
                <a:latin typeface="Calibri" panose="020F0502020204030204" pitchFamily="34" charset="0"/>
                <a:ea typeface="Calibri" panose="020F0502020204030204" pitchFamily="34" charset="0"/>
                <a:cs typeface="Times New Roman" panose="02020603050405020304" pitchFamily="18" charset="0"/>
              </a:rPr>
              <a:t>Display</a:t>
            </a:r>
            <a:r>
              <a:rPr lang="en-IN" kern="100">
                <a:effectLst/>
                <a:latin typeface="Times New Roman" panose="02020603050405020304" pitchFamily="18" charset="0"/>
                <a:ea typeface="Calibri" panose="020F0502020204030204" pitchFamily="34" charset="0"/>
                <a:cs typeface="Times New Roman" panose="02020603050405020304" pitchFamily="18" charset="0"/>
              </a:rPr>
              <a:t>: Full HD monitor (1920x1080 resolution) or higher</a:t>
            </a:r>
            <a:endParaRPr lang="en-IN"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0000"/>
              </a:lnSpc>
              <a:spcAft>
                <a:spcPts val="800"/>
              </a:spcAft>
              <a:tabLst>
                <a:tab pos="457200" algn="l"/>
              </a:tabLst>
            </a:pPr>
            <a:r>
              <a:rPr lang="en-IN" b="1" kern="100">
                <a:effectLst/>
                <a:latin typeface="Calibri" panose="020F0502020204030204" pitchFamily="34" charset="0"/>
                <a:ea typeface="Calibri" panose="020F0502020204030204" pitchFamily="34" charset="0"/>
                <a:cs typeface="Times New Roman" panose="02020603050405020304" pitchFamily="18" charset="0"/>
              </a:rPr>
              <a:t>Internet Connection</a:t>
            </a:r>
            <a:r>
              <a:rPr lang="en-IN" kern="100">
                <a:effectLst/>
                <a:latin typeface="Times New Roman" panose="02020603050405020304" pitchFamily="18" charset="0"/>
                <a:ea typeface="Calibri" panose="020F0502020204030204" pitchFamily="34" charset="0"/>
                <a:cs typeface="Times New Roman" panose="02020603050405020304" pitchFamily="18" charset="0"/>
              </a:rPr>
              <a:t>: Stable internet connection for downloading datasets and libraries</a:t>
            </a:r>
            <a:endParaRPr lang="en-IN"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0000"/>
              </a:lnSpc>
            </a:pPr>
            <a:endParaRPr lang="en-IN"/>
          </a:p>
        </p:txBody>
      </p:sp>
    </p:spTree>
    <p:extLst>
      <p:ext uri="{BB962C8B-B14F-4D97-AF65-F5344CB8AC3E}">
        <p14:creationId xmlns:p14="http://schemas.microsoft.com/office/powerpoint/2010/main" val="167967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5" name="Picture 4" descr="Computer script on a screen">
            <a:extLst>
              <a:ext uri="{FF2B5EF4-FFF2-40B4-BE49-F238E27FC236}">
                <a16:creationId xmlns:a16="http://schemas.microsoft.com/office/drawing/2014/main" id="{D975748D-C3D8-DCDB-4964-018D4176C4FC}"/>
              </a:ext>
            </a:extLst>
          </p:cNvPr>
          <p:cNvPicPr>
            <a:picLocks noChangeAspect="1"/>
          </p:cNvPicPr>
          <p:nvPr/>
        </p:nvPicPr>
        <p:blipFill rotWithShape="1">
          <a:blip r:embed="rId3">
            <a:alphaModFix amt="35000"/>
          </a:blip>
          <a:srcRect t="5993" b="9762"/>
          <a:stretch/>
        </p:blipFill>
        <p:spPr>
          <a:xfrm>
            <a:off x="20" y="2030"/>
            <a:ext cx="12191980" cy="6855970"/>
          </a:xfrm>
          <a:prstGeom prst="rect">
            <a:avLst/>
          </a:prstGeom>
        </p:spPr>
      </p:pic>
      <p:sp>
        <p:nvSpPr>
          <p:cNvPr id="9" name="Rectangle 8">
            <a:extLst>
              <a:ext uri="{FF2B5EF4-FFF2-40B4-BE49-F238E27FC236}">
                <a16:creationId xmlns:a16="http://schemas.microsoft.com/office/drawing/2014/main" id="{4DE0D6BE-330A-422D-9BD9-1E18F73C6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9ED5458C-4EB1-3A6C-AF42-6C027F83490D}"/>
              </a:ext>
            </a:extLst>
          </p:cNvPr>
          <p:cNvSpPr>
            <a:spLocks noGrp="1"/>
          </p:cNvSpPr>
          <p:nvPr>
            <p:ph idx="1"/>
          </p:nvPr>
        </p:nvSpPr>
        <p:spPr>
          <a:xfrm>
            <a:off x="919119" y="581895"/>
            <a:ext cx="10353762" cy="6074544"/>
          </a:xfrm>
        </p:spPr>
        <p:txBody>
          <a:bodyPr>
            <a:normAutofit/>
          </a:bodyPr>
          <a:lstStyle/>
          <a:p>
            <a:pPr marL="0" indent="0">
              <a:lnSpc>
                <a:spcPct val="110000"/>
              </a:lnSpc>
              <a:spcBef>
                <a:spcPts val="200"/>
              </a:spcBef>
              <a:buNone/>
            </a:pPr>
            <a:r>
              <a:rPr lang="en-IN" sz="1400" b="1" i="0" kern="100" dirty="0">
                <a:effectLst/>
                <a:latin typeface="Times New Roman" panose="02020603050405020304" pitchFamily="18" charset="0"/>
                <a:ea typeface="Times New Roman" panose="02020603050405020304" pitchFamily="18" charset="0"/>
                <a:cs typeface="Times New Roman" panose="02020603050405020304" pitchFamily="18" charset="0"/>
              </a:rPr>
              <a:t>SOFTWARE REQUIREMENTS:</a:t>
            </a:r>
            <a:endParaRPr lang="en-IN" sz="1400" b="1" i="1" kern="100" dirty="0">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10000"/>
              </a:lnSpc>
              <a:spcAft>
                <a:spcPts val="500"/>
              </a:spcAft>
              <a:tabLst>
                <a:tab pos="457200" algn="l"/>
              </a:tabLst>
            </a:pPr>
            <a:r>
              <a:rPr lang="en-IN" sz="1400" b="1" dirty="0">
                <a:effectLst/>
                <a:latin typeface="Times New Roman" panose="02020603050405020304" pitchFamily="18" charset="0"/>
                <a:ea typeface="Times New Roman" panose="02020603050405020304" pitchFamily="18" charset="0"/>
              </a:rPr>
              <a:t>Operating System</a:t>
            </a:r>
            <a:r>
              <a:rPr lang="en-IN" sz="1400" dirty="0">
                <a:effectLst/>
                <a:latin typeface="Times New Roman" panose="02020603050405020304" pitchFamily="18" charset="0"/>
                <a:ea typeface="Times New Roman" panose="02020603050405020304" pitchFamily="18" charset="0"/>
              </a:rPr>
              <a:t>:</a:t>
            </a:r>
          </a:p>
          <a:p>
            <a:pPr>
              <a:lnSpc>
                <a:spcPct val="110000"/>
              </a:lnSpc>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Windows 10 or higher</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0000"/>
              </a:lnSpc>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macOS 10.14 (Mojave) or higher</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0000"/>
              </a:lnSpc>
              <a:spcAft>
                <a:spcPts val="800"/>
              </a:spcAft>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Linux (any modern distribution)</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10000"/>
              </a:lnSpc>
              <a:spcAft>
                <a:spcPts val="500"/>
              </a:spcAft>
              <a:buNone/>
              <a:tabLst>
                <a:tab pos="457200" algn="l"/>
              </a:tabLst>
            </a:pPr>
            <a:r>
              <a:rPr lang="en-IN" sz="1400" b="1" dirty="0">
                <a:effectLst/>
                <a:latin typeface="Times New Roman" panose="02020603050405020304" pitchFamily="18" charset="0"/>
                <a:ea typeface="Times New Roman" panose="02020603050405020304" pitchFamily="18" charset="0"/>
              </a:rPr>
              <a:t>Programming Languages</a:t>
            </a:r>
            <a:r>
              <a:rPr lang="en-IN" sz="1400" dirty="0">
                <a:effectLst/>
                <a:latin typeface="Times New Roman" panose="02020603050405020304" pitchFamily="18" charset="0"/>
                <a:ea typeface="Times New Roman" panose="02020603050405020304" pitchFamily="18" charset="0"/>
              </a:rPr>
              <a:t>:</a:t>
            </a:r>
          </a:p>
          <a:p>
            <a:pPr marL="342900" lvl="0" indent="-342900">
              <a:lnSpc>
                <a:spcPct val="110000"/>
              </a:lnSpc>
              <a:spcAft>
                <a:spcPts val="800"/>
              </a:spcAft>
              <a:buFont typeface="Symbol" panose="05050102010706020507" pitchFamily="18" charset="2"/>
              <a:buChar char=""/>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Python 3.6 or higher</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0000"/>
              </a:lnSpc>
              <a:spcAft>
                <a:spcPts val="500"/>
              </a:spcAft>
              <a:tabLst>
                <a:tab pos="457200" algn="l"/>
              </a:tabLst>
            </a:pPr>
            <a:r>
              <a:rPr lang="en-IN" sz="1400" b="1" dirty="0">
                <a:effectLst/>
                <a:latin typeface="Times New Roman" panose="02020603050405020304" pitchFamily="18" charset="0"/>
                <a:ea typeface="Times New Roman" panose="02020603050405020304" pitchFamily="18" charset="0"/>
              </a:rPr>
              <a:t>Python Libraries</a:t>
            </a:r>
            <a:r>
              <a:rPr lang="en-IN" sz="1400" dirty="0">
                <a:effectLst/>
                <a:latin typeface="Times New Roman" panose="02020603050405020304" pitchFamily="18" charset="0"/>
                <a:ea typeface="Times New Roman" panose="02020603050405020304" pitchFamily="18" charset="0"/>
              </a:rPr>
              <a:t>:</a:t>
            </a:r>
          </a:p>
          <a:p>
            <a:pPr marL="342900" lvl="0" indent="-342900">
              <a:lnSpc>
                <a:spcPct val="110000"/>
              </a:lnSpc>
              <a:buFont typeface="Symbol" panose="05050102010706020507" pitchFamily="18" charset="2"/>
              <a:buChar char=""/>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pandas</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For data manipulation and analysis.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0000"/>
              </a:lnSpc>
              <a:buFont typeface="Symbol" panose="05050102010706020507" pitchFamily="18" charset="2"/>
              <a:buChar char=""/>
            </a:pPr>
            <a:r>
              <a:rPr lang="en-IN" sz="1400" b="1" kern="100" dirty="0" err="1">
                <a:effectLst/>
                <a:latin typeface="Calibri" panose="020F0502020204030204" pitchFamily="34" charset="0"/>
                <a:ea typeface="Calibri" panose="020F0502020204030204" pitchFamily="34" charset="0"/>
                <a:cs typeface="Times New Roman" panose="02020603050405020304" pitchFamily="18" charset="0"/>
              </a:rPr>
              <a:t>numpy</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For efficient numerical computations and array operations.</a:t>
            </a:r>
          </a:p>
          <a:p>
            <a:pPr marL="342900" lvl="0" indent="-342900">
              <a:lnSpc>
                <a:spcPct val="110000"/>
              </a:lnSpc>
              <a:buFont typeface="Symbol" panose="05050102010706020507" pitchFamily="18" charset="2"/>
              <a:buChar char=""/>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matplotlib</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For static, interactive, and animated visualizations.</a:t>
            </a:r>
          </a:p>
          <a:p>
            <a:pPr marL="342900" lvl="0" indent="-342900">
              <a:lnSpc>
                <a:spcPct val="110000"/>
              </a:lnSpc>
              <a:buFont typeface="Symbol" panose="05050102010706020507" pitchFamily="18" charset="2"/>
              <a:buChar char=""/>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seaborn</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For high-level statistical data visualization.</a:t>
            </a:r>
          </a:p>
          <a:p>
            <a:pPr marL="342900" lvl="0" indent="-342900">
              <a:lnSpc>
                <a:spcPct val="110000"/>
              </a:lnSpc>
              <a:buFont typeface="Symbol" panose="05050102010706020507" pitchFamily="18" charset="2"/>
              <a:buChar char=""/>
            </a:pPr>
            <a:r>
              <a:rPr lang="en-IN" sz="1400" b="1" kern="100" dirty="0" err="1">
                <a:effectLst/>
                <a:latin typeface="Calibri" panose="020F0502020204030204" pitchFamily="34" charset="0"/>
                <a:ea typeface="Calibri" panose="020F0502020204030204" pitchFamily="34" charset="0"/>
                <a:cs typeface="Times New Roman" panose="02020603050405020304" pitchFamily="18" charset="0"/>
              </a:rPr>
              <a:t>mysql</a:t>
            </a: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-connector-python</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For loading cleaned data into a MySQL database.</a:t>
            </a:r>
          </a:p>
          <a:p>
            <a:pPr marL="342900" lvl="0" indent="-342900">
              <a:lnSpc>
                <a:spcPct val="110000"/>
              </a:lnSpc>
              <a:buFont typeface="Symbol" panose="05050102010706020507" pitchFamily="18" charset="2"/>
              <a:buChar char=""/>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Database</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MySQL Server 8.0 or higher, used as the structured storage layer connected to Power BI.</a:t>
            </a:r>
          </a:p>
        </p:txBody>
      </p:sp>
    </p:spTree>
    <p:extLst>
      <p:ext uri="{BB962C8B-B14F-4D97-AF65-F5344CB8AC3E}">
        <p14:creationId xmlns:p14="http://schemas.microsoft.com/office/powerpoint/2010/main" val="3778346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4" name="Picture 3" descr="Electronic circuit board">
            <a:extLst>
              <a:ext uri="{FF2B5EF4-FFF2-40B4-BE49-F238E27FC236}">
                <a16:creationId xmlns:a16="http://schemas.microsoft.com/office/drawing/2014/main" id="{0692214C-F1E6-F32F-1D08-B744F7AC143B}"/>
              </a:ext>
            </a:extLst>
          </p:cNvPr>
          <p:cNvPicPr>
            <a:picLocks noChangeAspect="1"/>
          </p:cNvPicPr>
          <p:nvPr/>
        </p:nvPicPr>
        <p:blipFill rotWithShape="1">
          <a:blip r:embed="rId3">
            <a:alphaModFix amt="35000"/>
            <a:grayscl/>
          </a:blip>
          <a:srcRect t="15730"/>
          <a:stretch/>
        </p:blipFill>
        <p:spPr>
          <a:xfrm>
            <a:off x="20" y="10"/>
            <a:ext cx="12191980" cy="6857990"/>
          </a:xfrm>
          <a:prstGeom prst="rect">
            <a:avLst/>
          </a:prstGeom>
        </p:spPr>
      </p:pic>
      <p:sp>
        <p:nvSpPr>
          <p:cNvPr id="8" name="Rectangle 7">
            <a:extLst>
              <a:ext uri="{FF2B5EF4-FFF2-40B4-BE49-F238E27FC236}">
                <a16:creationId xmlns:a16="http://schemas.microsoft.com/office/drawing/2014/main" id="{FC23C8D4-BD3D-4473-B3D0-89011586B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5000"/>
                </a:schemeClr>
              </a:gs>
              <a:gs pos="100000">
                <a:schemeClr val="bg2">
                  <a:lumMod val="40000"/>
                </a:scheme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733A1888-B81E-F707-1366-4D248FF2011A}"/>
              </a:ext>
            </a:extLst>
          </p:cNvPr>
          <p:cNvSpPr>
            <a:spLocks noGrp="1"/>
          </p:cNvSpPr>
          <p:nvPr>
            <p:ph type="title"/>
          </p:nvPr>
        </p:nvSpPr>
        <p:spPr>
          <a:xfrm>
            <a:off x="1595269" y="1122363"/>
            <a:ext cx="9001462" cy="2387600"/>
          </a:xfrm>
        </p:spPr>
        <p:txBody>
          <a:bodyPr vert="horz" lIns="91440" tIns="45720" rIns="91440" bIns="45720" rtlCol="0" anchor="b">
            <a:normAutofit/>
          </a:bodyPr>
          <a:lstStyle/>
          <a:p>
            <a:pPr marL="342900" lvl="0" indent="-342900"/>
            <a:r>
              <a:rPr lang="en-US" sz="2600"/>
              <a:t>IDE/Text Editor:</a:t>
            </a:r>
            <a:br>
              <a:rPr lang="en-US" sz="2600"/>
            </a:br>
            <a:r>
              <a:rPr lang="en-US" sz="2600"/>
              <a:t>Jupyter Notebook/JupyterLab (recommended for EDA)</a:t>
            </a:r>
            <a:br>
              <a:rPr lang="en-US" sz="2600"/>
            </a:br>
            <a:r>
              <a:rPr lang="en-US" sz="2600"/>
              <a:t>Visual Studio Code</a:t>
            </a:r>
            <a:br>
              <a:rPr lang="en-US" sz="2600"/>
            </a:br>
            <a:r>
              <a:rPr lang="en-US" sz="2600"/>
              <a:t>PyCharm</a:t>
            </a:r>
            <a:br>
              <a:rPr lang="en-US" sz="2600"/>
            </a:br>
            <a:endParaRPr lang="en-US" sz="2600"/>
          </a:p>
        </p:txBody>
      </p:sp>
    </p:spTree>
    <p:extLst>
      <p:ext uri="{BB962C8B-B14F-4D97-AF65-F5344CB8AC3E}">
        <p14:creationId xmlns:p14="http://schemas.microsoft.com/office/powerpoint/2010/main" val="2215375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5" name="Picture 4" descr="Office building overlayed with stock market graphs">
            <a:extLst>
              <a:ext uri="{FF2B5EF4-FFF2-40B4-BE49-F238E27FC236}">
                <a16:creationId xmlns:a16="http://schemas.microsoft.com/office/drawing/2014/main" id="{CDBFA19B-C4C5-FC3A-EF2A-7DFC19EC3244}"/>
              </a:ext>
            </a:extLst>
          </p:cNvPr>
          <p:cNvPicPr>
            <a:picLocks noChangeAspect="1"/>
          </p:cNvPicPr>
          <p:nvPr/>
        </p:nvPicPr>
        <p:blipFill rotWithShape="1">
          <a:blip r:embed="rId3">
            <a:alphaModFix amt="35000"/>
          </a:blip>
          <a:srcRect t="14461" b="977"/>
          <a:stretch/>
        </p:blipFill>
        <p:spPr>
          <a:xfrm>
            <a:off x="20" y="2030"/>
            <a:ext cx="12191980" cy="6855970"/>
          </a:xfrm>
          <a:prstGeom prst="rect">
            <a:avLst/>
          </a:prstGeom>
        </p:spPr>
      </p:pic>
      <p:sp>
        <p:nvSpPr>
          <p:cNvPr id="9" name="Rectangle 8">
            <a:extLst>
              <a:ext uri="{FF2B5EF4-FFF2-40B4-BE49-F238E27FC236}">
                <a16:creationId xmlns:a16="http://schemas.microsoft.com/office/drawing/2014/main" id="{4DE0D6BE-330A-422D-9BD9-1E18F73C6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4D48E323-826D-5CEE-F555-BACBE935786B}"/>
              </a:ext>
            </a:extLst>
          </p:cNvPr>
          <p:cNvSpPr>
            <a:spLocks noGrp="1"/>
          </p:cNvSpPr>
          <p:nvPr>
            <p:ph type="title"/>
          </p:nvPr>
        </p:nvSpPr>
        <p:spPr>
          <a:xfrm>
            <a:off x="913795" y="609600"/>
            <a:ext cx="10353761" cy="1326321"/>
          </a:xfrm>
        </p:spPr>
        <p:txBody>
          <a:bodyPr>
            <a:normAutofit/>
          </a:bodyPr>
          <a:lstStyle/>
          <a:p>
            <a:r>
              <a:rPr lang="en-IN" b="1" dirty="0"/>
              <a:t>Summary</a:t>
            </a:r>
          </a:p>
        </p:txBody>
      </p:sp>
      <p:sp>
        <p:nvSpPr>
          <p:cNvPr id="3" name="Content Placeholder 2">
            <a:extLst>
              <a:ext uri="{FF2B5EF4-FFF2-40B4-BE49-F238E27FC236}">
                <a16:creationId xmlns:a16="http://schemas.microsoft.com/office/drawing/2014/main" id="{690F6504-5A0E-3C0C-6021-1DC1DAF34940}"/>
              </a:ext>
            </a:extLst>
          </p:cNvPr>
          <p:cNvSpPr>
            <a:spLocks noGrp="1"/>
          </p:cNvSpPr>
          <p:nvPr>
            <p:ph idx="1"/>
          </p:nvPr>
        </p:nvSpPr>
        <p:spPr>
          <a:xfrm>
            <a:off x="913795" y="2096064"/>
            <a:ext cx="10353762" cy="3695136"/>
          </a:xfrm>
        </p:spPr>
        <p:txBody>
          <a:bodyPr>
            <a:normAutofit/>
          </a:bodyPr>
          <a:lstStyle/>
          <a:p>
            <a:pPr marL="0" indent="0">
              <a:spcAft>
                <a:spcPts val="800"/>
              </a:spcAft>
              <a:buNone/>
            </a:pPr>
            <a:r>
              <a:rPr lang="en-US" dirty="0"/>
              <a:t>This customer restaurant data analysis project offers a valuable opportunity to gain insights into restaurant landscape. Using a Python-based cleaning and feature-engineering pipeline, a MySQL-backed data layer, and Power BI for data visualization, we can effectively uncover trends and patterns that can inform strategic decisions for businesses operating in the city</a:t>
            </a: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Aft>
                <a:spcPts val="800"/>
              </a:spcAft>
              <a:buNone/>
            </a:pPr>
            <a:endParaRPr lang="en-IN"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321755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231</TotalTime>
  <Words>847</Words>
  <Application>Microsoft Office PowerPoint</Application>
  <PresentationFormat>Widescreen</PresentationFormat>
  <Paragraphs>59</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Bookman Old Style</vt:lpstr>
      <vt:lpstr>Calibri</vt:lpstr>
      <vt:lpstr>Calibri Light</vt:lpstr>
      <vt:lpstr>Rockwell</vt:lpstr>
      <vt:lpstr>Symbol</vt:lpstr>
      <vt:lpstr>Times New Roman</vt:lpstr>
      <vt:lpstr>Damask</vt:lpstr>
      <vt:lpstr>Customer Food ordering data ANALYSIS  Aadil A  - AF05259524</vt:lpstr>
      <vt:lpstr>Data analysis lifecycle</vt:lpstr>
      <vt:lpstr>What is RESTAURANT KPI data Analysis ?</vt:lpstr>
      <vt:lpstr>Why customer Ordering data Analysis ?</vt:lpstr>
      <vt:lpstr>Problem Statement</vt:lpstr>
      <vt:lpstr>Aim </vt:lpstr>
      <vt:lpstr>methodologies </vt:lpstr>
      <vt:lpstr>Project Architecture </vt:lpstr>
      <vt:lpstr>Hardware and Software Requirements</vt:lpstr>
      <vt:lpstr>PowerPoint Presentation</vt:lpstr>
      <vt:lpstr>IDE/Text Editor: Jupyter Notebook/JupyterLab (recommended for EDA) Visual Studio Code PyCharm </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Swathi D</dc:creator>
  <cp:lastModifiedBy>AADIL ALEEM</cp:lastModifiedBy>
  <cp:revision>11</cp:revision>
  <dcterms:created xsi:type="dcterms:W3CDTF">2024-06-03T11:03:16Z</dcterms:created>
  <dcterms:modified xsi:type="dcterms:W3CDTF">2026-09-21T12:49:47Z</dcterms:modified>
</cp:coreProperties>
</file>